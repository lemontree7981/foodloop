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715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1775520"/>
            <a:ext cx="7772040" cy="122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5297040"/>
            <a:ext cx="213336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5297040"/>
            <a:ext cx="289512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5297040"/>
            <a:ext cx="213336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B335BF-6D5A-41CD-A978-36EC6A507E23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28960"/>
            <a:ext cx="8229240" cy="95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333440"/>
            <a:ext cx="8229240" cy="377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5297040"/>
            <a:ext cx="213336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5297040"/>
            <a:ext cx="289512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5297040"/>
            <a:ext cx="213336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382A25-C999-4FA6-864B-C49C8BD7BCA6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28960"/>
            <a:ext cx="2057040" cy="48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28960"/>
            <a:ext cx="6019560" cy="48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5297040"/>
            <a:ext cx="213336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5297040"/>
            <a:ext cx="289512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5297040"/>
            <a:ext cx="213336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FDD0A3-CC18-4022-BD10-7DB270A6DB17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28960"/>
            <a:ext cx="8229240" cy="95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333440"/>
            <a:ext cx="8229240" cy="377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5297040"/>
            <a:ext cx="213336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5297040"/>
            <a:ext cx="289512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5297040"/>
            <a:ext cx="213336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00BF4E-BAFD-4035-B854-45F87BDC7203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3672360"/>
            <a:ext cx="7772040" cy="113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422440"/>
            <a:ext cx="7772040" cy="12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5297040"/>
            <a:ext cx="213336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5297040"/>
            <a:ext cx="289512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5297040"/>
            <a:ext cx="213336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8F3066-CB78-43AD-942D-F7E29AAEFBE1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28960"/>
            <a:ext cx="8229240" cy="95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333440"/>
            <a:ext cx="4038120" cy="377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333440"/>
            <a:ext cx="4038120" cy="377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5297040"/>
            <a:ext cx="213336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5297040"/>
            <a:ext cx="289512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5297040"/>
            <a:ext cx="213336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E86FE9-031E-48D7-B859-2D91281FE114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28960"/>
            <a:ext cx="8229240" cy="95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79440"/>
            <a:ext cx="403992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1812240"/>
            <a:ext cx="4039920" cy="329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279440"/>
            <a:ext cx="4041360" cy="53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1812240"/>
            <a:ext cx="4041360" cy="329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5297040"/>
            <a:ext cx="213336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5297040"/>
            <a:ext cx="289512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5297040"/>
            <a:ext cx="213336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D3C724-885B-46FE-99AD-CC81A301C213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28960"/>
            <a:ext cx="8229240" cy="95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5297040"/>
            <a:ext cx="213336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5297040"/>
            <a:ext cx="289512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5297040"/>
            <a:ext cx="213336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EB7018-3DFD-4FE7-AD43-63143D8AE964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5297040"/>
            <a:ext cx="213336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5297040"/>
            <a:ext cx="289512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5297040"/>
            <a:ext cx="213336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9FAFA2-1611-439B-AD37-B136533E0A6F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3007800" cy="96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27520"/>
            <a:ext cx="5111280" cy="487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195920"/>
            <a:ext cx="3007800" cy="39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5297040"/>
            <a:ext cx="213336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5297040"/>
            <a:ext cx="289512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5297040"/>
            <a:ext cx="213336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2C4821-E876-4DD9-A10D-BB718881E636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000680"/>
            <a:ext cx="5486040" cy="47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510480"/>
            <a:ext cx="5486040" cy="342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4472640"/>
            <a:ext cx="5486040" cy="67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5297040"/>
            <a:ext cx="213336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5297040"/>
            <a:ext cx="289512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5297040"/>
            <a:ext cx="2133360" cy="30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BB1FDA-C42B-4D95-A5AC-6905D2F130A9}" type="slidenum">
              <a:rPr lang="en-IN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www.feedingindia.org/" TargetMode="External"/><Relationship Id="rId2" Type="http://schemas.openxmlformats.org/officeDocument/2006/relationships/hyperlink" Target="https://www.nowasteapp.com/" TargetMode="External"/><Relationship Id="rId3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1.png"/>
          <p:cNvPicPr/>
          <p:nvPr/>
        </p:nvPicPr>
        <p:blipFill>
          <a:blip r:embed="rId1"/>
          <a:stretch/>
        </p:blipFill>
        <p:spPr>
          <a:xfrm>
            <a:off x="7740360" y="0"/>
            <a:ext cx="1390680" cy="147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Picture 2" descr="Image result for Vtu Logo"/>
          <p:cNvPicPr/>
          <p:nvPr/>
        </p:nvPicPr>
        <p:blipFill>
          <a:blip r:embed="rId2"/>
          <a:stretch/>
        </p:blipFill>
        <p:spPr>
          <a:xfrm>
            <a:off x="131040" y="128880"/>
            <a:ext cx="1200240" cy="120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Rectangle 15"/>
          <p:cNvSpPr/>
          <p:nvPr/>
        </p:nvSpPr>
        <p:spPr>
          <a:xfrm>
            <a:off x="1815840" y="457200"/>
            <a:ext cx="551196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IN" sz="2000" b="1" u="none" strike="noStrike">
                <a:solidFill>
                  <a:schemeClr val="dk2">
                    <a:lumMod val="50000"/>
                  </a:schemeClr>
                </a:solidFill>
                <a:effectLst/>
                <a:uFillTx/>
                <a:latin typeface="Calibri"/>
              </a:rPr>
              <a:t>DAYANANDA SAGAR COLLEGE OF ENGINEERING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IN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(An Autonomous Institute affiliated to VTU)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IN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Department of Computer Science and Engineering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ectangle 16"/>
          <p:cNvSpPr/>
          <p:nvPr/>
        </p:nvSpPr>
        <p:spPr>
          <a:xfrm>
            <a:off x="4687200" y="3795480"/>
            <a:ext cx="4204800" cy="12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c00000"/>
                </a:solidFill>
                <a:effectLst/>
                <a:uFillTx/>
                <a:latin typeface="Times New Roman"/>
              </a:rPr>
              <a:t>By: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500" b="1" u="none" strike="noStrike" cap="all">
                <a:solidFill>
                  <a:srgbClr val="002060"/>
                </a:solidFill>
                <a:effectLst/>
                <a:uFillTx/>
                <a:latin typeface="Times New Roman"/>
              </a:rPr>
              <a:t>Abhinav Kuri - (1ds25cS007)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500" b="1" u="none" strike="noStrike" cap="all">
                <a:solidFill>
                  <a:srgbClr val="002060"/>
                </a:solidFill>
                <a:effectLst/>
                <a:uFillTx/>
                <a:latin typeface="Times New Roman"/>
              </a:rPr>
              <a:t>Aditi vinay - (1ds25cS014)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500" b="1" u="none" strike="noStrike" cap="all">
                <a:solidFill>
                  <a:srgbClr val="002060"/>
                </a:solidFill>
                <a:effectLst/>
                <a:uFillTx/>
                <a:latin typeface="Times New Roman"/>
              </a:rPr>
              <a:t>SABEEH AHMAD  - (1ds25cs219)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500" b="1" u="none" strike="noStrike" cap="all">
                <a:solidFill>
                  <a:srgbClr val="002060"/>
                </a:solidFill>
                <a:effectLst/>
                <a:uFillTx/>
                <a:latin typeface="Times New Roman"/>
              </a:rPr>
              <a:t>SATYAM jha  - (1ds25cs238)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17"/>
          <p:cNvSpPr/>
          <p:nvPr/>
        </p:nvSpPr>
        <p:spPr>
          <a:xfrm>
            <a:off x="420120" y="3282120"/>
            <a:ext cx="3885840" cy="20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434"/>
              </a:spcBef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34"/>
              </a:spcBef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34"/>
              </a:spcBef>
            </a:pPr>
            <a:r>
              <a:rPr lang="en-US" sz="1500" b="1" u="none" strike="noStrike">
                <a:solidFill>
                  <a:srgbClr val="c00000"/>
                </a:solidFill>
                <a:effectLst/>
                <a:uFillTx/>
                <a:latin typeface="Times New Roman"/>
              </a:rPr>
              <a:t>Under the  Guidance of :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34"/>
              </a:spcBef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Prof. Muquitha Almas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34"/>
              </a:spcBef>
            </a:pPr>
            <a:r>
              <a:rPr lang="en-US" sz="1500" b="1" u="none" strike="noStrike">
                <a:solidFill>
                  <a:srgbClr val="c00000"/>
                </a:solidFill>
                <a:effectLst/>
                <a:uFillTx/>
                <a:latin typeface="Times New Roman"/>
              </a:rPr>
              <a:t>Designation 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34"/>
              </a:spcBef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Assistant Professor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34"/>
              </a:spcBef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18"/>
          <p:cNvSpPr/>
          <p:nvPr/>
        </p:nvSpPr>
        <p:spPr>
          <a:xfrm>
            <a:off x="1165320" y="1737360"/>
            <a:ext cx="7043400" cy="15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c00000"/>
                </a:solidFill>
                <a:effectLst/>
                <a:uFillTx/>
                <a:latin typeface="Times New Roman"/>
              </a:rPr>
              <a:t>First Year Mini  Project Synopsis  Presentation 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“</a:t>
            </a:r>
            <a:r>
              <a:rPr lang="en-US" sz="25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Food Waste Reduction</a:t>
            </a:r>
            <a:r>
              <a:rPr lang="en-US" sz="21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”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23640" y="-102960"/>
            <a:ext cx="1872000" cy="14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4000" b="1" u="none" strike="noStrike">
                <a:solidFill>
                  <a:schemeClr val="accent1"/>
                </a:solidFill>
                <a:effectLst/>
                <a:uFillTx/>
                <a:latin typeface="Times New Roman"/>
              </a:rPr>
              <a:t>Agenda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374760" y="1364040"/>
            <a:ext cx="7005240" cy="389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343080" indent="-343080" defTabSz="914400">
              <a:lnSpc>
                <a:spcPct val="150000"/>
              </a:lnSpc>
              <a:spcBef>
                <a:spcPts val="439"/>
              </a:spcBef>
              <a:buClr>
                <a:srgbClr val="ff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Introduction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50000"/>
              </a:lnSpc>
              <a:spcBef>
                <a:spcPts val="439"/>
              </a:spcBef>
              <a:buClr>
                <a:srgbClr val="ff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Literature survey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50000"/>
              </a:lnSpc>
              <a:spcBef>
                <a:spcPts val="439"/>
              </a:spcBef>
              <a:buClr>
                <a:srgbClr val="ff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Problem Identification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50000"/>
              </a:lnSpc>
              <a:spcBef>
                <a:spcPts val="439"/>
              </a:spcBef>
              <a:buClr>
                <a:srgbClr val="ff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Data Collection(field work)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50000"/>
              </a:lnSpc>
              <a:spcBef>
                <a:spcPts val="439"/>
              </a:spcBef>
              <a:buClr>
                <a:srgbClr val="ff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Methodology and Proposed System(With Flow diagram)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50000"/>
              </a:lnSpc>
              <a:spcBef>
                <a:spcPts val="439"/>
              </a:spcBef>
              <a:buClr>
                <a:srgbClr val="ff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References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914400">
              <a:lnSpc>
                <a:spcPct val="150000"/>
              </a:lnSpc>
              <a:spcBef>
                <a:spcPts val="439"/>
              </a:spcBef>
              <a:buClr>
                <a:srgbClr val="ff0000"/>
              </a:buClr>
              <a:buFont typeface="Arial"/>
              <a:buChar char="•"/>
            </a:pPr>
            <a:r>
              <a:rPr lang="en-US" sz="22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Conclusion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50000"/>
              </a:lnSpc>
              <a:spcBef>
                <a:spcPts val="360"/>
              </a:spcBef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50000"/>
              </a:lnSpc>
              <a:spcBef>
                <a:spcPts val="360"/>
              </a:spcBef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15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3"/>
          <p:cNvSpPr/>
          <p:nvPr/>
        </p:nvSpPr>
        <p:spPr>
          <a:xfrm>
            <a:off x="191160" y="2666520"/>
            <a:ext cx="81367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FoodLoop is a cross-platform solution (Web) designed to reduce food wastage by connecting food donors (restaurants, households, events)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4"/>
          <p:cNvSpPr/>
          <p:nvPr/>
        </p:nvSpPr>
        <p:spPr>
          <a:xfrm>
            <a:off x="202680" y="988200"/>
            <a:ext cx="82087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Food waste is a critical global issue, leading to environmental degradation, economic loss, and social imbalance.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5"/>
          <p:cNvSpPr/>
          <p:nvPr/>
        </p:nvSpPr>
        <p:spPr>
          <a:xfrm>
            <a:off x="198000" y="1868400"/>
            <a:ext cx="78300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significant portion of edible food generated by restaurants, households, and events is discarded due to lack of timely redistribution mechanisms.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7"/>
          <p:cNvSpPr/>
          <p:nvPr/>
        </p:nvSpPr>
        <p:spPr>
          <a:xfrm>
            <a:off x="194400" y="3412440"/>
            <a:ext cx="85291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system facilitates real-time listing of surplus food, geo-location-based matching, logistics coordination, and analytics-driven monitoring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2"/>
          <p:cNvSpPr/>
          <p:nvPr/>
        </p:nvSpPr>
        <p:spPr>
          <a:xfrm>
            <a:off x="202680" y="4228920"/>
            <a:ext cx="8280720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ctr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Through the integration of modern technologies such as 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React, Flutter, Node.js, PostreSQL, and cloud storage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FoodLoop aims to create a scalable and efficient method for minimizing food wastage.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10"/>
          <p:cNvSpPr/>
          <p:nvPr/>
        </p:nvSpPr>
        <p:spPr>
          <a:xfrm>
            <a:off x="218880" y="121320"/>
            <a:ext cx="8192160" cy="7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50000"/>
              </a:lnSpc>
            </a:pPr>
            <a:r>
              <a:rPr lang="en-US" sz="30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Introduction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3034080" y="121320"/>
            <a:ext cx="2827800" cy="70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50000"/>
              </a:lnSpc>
            </a:pPr>
            <a:r>
              <a:rPr lang="en-US" sz="30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Literature survey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2"/>
          <p:cNvSpPr/>
          <p:nvPr/>
        </p:nvSpPr>
        <p:spPr>
          <a:xfrm>
            <a:off x="218880" y="1230480"/>
            <a:ext cx="8064360" cy="31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Existing studies and platforms reveal: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Food donation apps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like Feeding India &amp; NoWaste solve logistics but lack real-time geo-matching.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Research shows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40% of food globally is wasted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while millions face hunger.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Recent systems incorporate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AI, IoT, and community-driven models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for waste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   monitoring.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Existing solutions are fragmented; integrated donor→receiver→volunteer coordination is rare.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3"/>
          <p:cNvSpPr/>
          <p:nvPr/>
        </p:nvSpPr>
        <p:spPr>
          <a:xfrm>
            <a:off x="2427840" y="4751640"/>
            <a:ext cx="404064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IN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&gt;&gt; </a:t>
            </a:r>
            <a:r>
              <a:rPr lang="en-IN" sz="15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Feeding India </a:t>
            </a:r>
            <a:r>
              <a:rPr lang="en-IN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r>
              <a:rPr lang="en-IN" sz="1500" b="0" u="sng" strike="noStrike">
                <a:solidFill>
                  <a:srgbClr val="0000ff"/>
                </a:solidFill>
                <a:effectLst/>
                <a:uFillTx/>
                <a:latin typeface="Calibri"/>
                <a:hlinkClick r:id="rId1"/>
              </a:rPr>
              <a:t>https://www.feedingindia.org/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&gt;&gt;</a:t>
            </a:r>
            <a:r>
              <a:rPr lang="en-US" sz="1500" b="0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 </a:t>
            </a:r>
            <a:r>
              <a:rPr lang="en-US" sz="15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No Waste       </a:t>
            </a: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 </a:t>
            </a:r>
            <a:r>
              <a:rPr lang="en-US" sz="1500" b="0" u="sng" strike="noStrike">
                <a:solidFill>
                  <a:srgbClr val="0000ff"/>
                </a:solidFill>
                <a:effectLst/>
                <a:uFillTx/>
                <a:latin typeface="Calibri"/>
                <a:hlinkClick r:id="rId2"/>
              </a:rPr>
              <a:t>https://www.nowasteapp.com/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3"/>
          <p:cNvSpPr/>
          <p:nvPr/>
        </p:nvSpPr>
        <p:spPr>
          <a:xfrm>
            <a:off x="251640" y="1129320"/>
            <a:ext cx="8321040" cy="25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anchor="ctr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Food wastage in restaurants, events, and households is high.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NGOs often lack visibility of available food nearby.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 unified platform connecting donors, receivers, and volunteers in real time.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Manual communication leads to delays → food expires quickly.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Lack of data analytics to measure impact or improve distribution.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6"/>
          <p:cNvSpPr/>
          <p:nvPr/>
        </p:nvSpPr>
        <p:spPr>
          <a:xfrm>
            <a:off x="2580840" y="121320"/>
            <a:ext cx="3663000" cy="70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50000"/>
              </a:lnSpc>
            </a:pPr>
            <a:r>
              <a:rPr lang="en-US" sz="30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Problem Identification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3"/>
          <p:cNvSpPr/>
          <p:nvPr/>
        </p:nvSpPr>
        <p:spPr>
          <a:xfrm>
            <a:off x="3060000" y="287280"/>
            <a:ext cx="261432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Data Collection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4"/>
          <p:cNvSpPr/>
          <p:nvPr/>
        </p:nvSpPr>
        <p:spPr>
          <a:xfrm>
            <a:off x="353160" y="1208160"/>
            <a:ext cx="7416360" cy="34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Sample data collection activities: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Interviews with restaurant owners about surplus patterns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Discussions with NGOs on food pickup challenges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Observations of event food wastage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User survey on willingness to donate/request food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Findings: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Donors wanted a 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simple app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to post food quickly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NGOs needed 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location-based alerts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Volunteers needed </a:t>
            </a:r>
            <a:r>
              <a:rPr lang="en-US" sz="18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task assignment + navigation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features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3"/>
          <p:cNvSpPr/>
          <p:nvPr/>
        </p:nvSpPr>
        <p:spPr>
          <a:xfrm>
            <a:off x="1691640" y="265320"/>
            <a:ext cx="566820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Methodology and Proposed System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4"/>
          <p:cNvSpPr/>
          <p:nvPr/>
        </p:nvSpPr>
        <p:spPr>
          <a:xfrm>
            <a:off x="410400" y="1084680"/>
            <a:ext cx="6624360" cy="22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FoodLoop uses a </a:t>
            </a:r>
            <a:r>
              <a:rPr lang="en-IN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three-layer system</a:t>
            </a: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 Frontend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Web: React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 Backend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Node.js (Express)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Auth using Firebase/Auth0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5"/>
          <p:cNvSpPr/>
          <p:nvPr/>
        </p:nvSpPr>
        <p:spPr>
          <a:xfrm>
            <a:off x="3866760" y="1640520"/>
            <a:ext cx="4571640" cy="20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IN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 Database &amp; Storage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PostgreSQL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 Process Flow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Donor posts surplus food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Nearby receivers/volunteers notified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Claim → Pickup → Proof upload → Completion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3"/>
          <p:cNvPicPr/>
          <p:nvPr/>
        </p:nvPicPr>
        <p:blipFill>
          <a:blip r:embed="rId1"/>
          <a:srcRect l="30024" t="0" r="31963" b="0"/>
          <a:stretch/>
        </p:blipFill>
        <p:spPr>
          <a:xfrm>
            <a:off x="2734920" y="732960"/>
            <a:ext cx="3348720" cy="480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Rectangle 4"/>
          <p:cNvSpPr/>
          <p:nvPr/>
        </p:nvSpPr>
        <p:spPr>
          <a:xfrm>
            <a:off x="3348000" y="143280"/>
            <a:ext cx="233388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30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Flow diagram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3"/>
          <p:cNvSpPr/>
          <p:nvPr/>
        </p:nvSpPr>
        <p:spPr>
          <a:xfrm>
            <a:off x="3492000" y="193320"/>
            <a:ext cx="1896480" cy="70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50000"/>
              </a:lnSpc>
            </a:pPr>
            <a:r>
              <a:rPr lang="en-US" sz="30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References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 4"/>
          <p:cNvSpPr/>
          <p:nvPr/>
        </p:nvSpPr>
        <p:spPr>
          <a:xfrm>
            <a:off x="539640" y="1273320"/>
            <a:ext cx="79923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Understanding food waste reducing platforms: A mini-review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(2023)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6"/>
          <p:cNvSpPr/>
          <p:nvPr/>
        </p:nvSpPr>
        <p:spPr>
          <a:xfrm>
            <a:off x="941760" y="1642680"/>
            <a:ext cx="49683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&gt;&gt;</a:t>
            </a:r>
            <a:r>
              <a:rPr lang="en-IN" sz="16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 https://pmc.ncbi.nlm.nih.gov/articles/PMC10108325/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7"/>
          <p:cNvSpPr/>
          <p:nvPr/>
        </p:nvSpPr>
        <p:spPr>
          <a:xfrm>
            <a:off x="533160" y="2119320"/>
            <a:ext cx="80463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Measuring the Effects of an Anti-Food-Waste Digital Application from the Operators' Perspective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8"/>
          <p:cNvSpPr/>
          <p:nvPr/>
        </p:nvSpPr>
        <p:spPr>
          <a:xfrm>
            <a:off x="973080" y="2741400"/>
            <a:ext cx="40172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&gt;&gt;</a:t>
            </a:r>
            <a:r>
              <a:rPr lang="en-IN" sz="16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 https://www.mdpi.com/2413-8851/8/2/57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9"/>
          <p:cNvSpPr/>
          <p:nvPr/>
        </p:nvSpPr>
        <p:spPr>
          <a:xfrm>
            <a:off x="555840" y="3153600"/>
            <a:ext cx="75902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Digital Technologies in Food Supply Chain Waste Management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(Case Study on Smart Cities)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10"/>
          <p:cNvSpPr/>
          <p:nvPr/>
        </p:nvSpPr>
        <p:spPr>
          <a:xfrm>
            <a:off x="973080" y="3793680"/>
            <a:ext cx="43297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&gt;&gt;</a:t>
            </a:r>
            <a:r>
              <a:rPr lang="en-IN" sz="16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 https://www.mdpi.com/2071-1050/17/5/1996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13"/>
          <p:cNvSpPr/>
          <p:nvPr/>
        </p:nvSpPr>
        <p:spPr>
          <a:xfrm>
            <a:off x="555840" y="4215960"/>
            <a:ext cx="75902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Exploring the potential of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AI-driven food waste management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strategies used in the hospitality industry for application in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household settings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14"/>
          <p:cNvSpPr/>
          <p:nvPr/>
        </p:nvSpPr>
        <p:spPr>
          <a:xfrm>
            <a:off x="973080" y="4862520"/>
            <a:ext cx="56869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IN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&gt;&gt; </a:t>
            </a:r>
            <a:r>
              <a:rPr lang="en-IN" sz="1600" b="0" u="none" strike="noStrike">
                <a:solidFill>
                  <a:srgbClr val="c00000"/>
                </a:solidFill>
                <a:effectLst/>
                <a:uFillTx/>
                <a:latin typeface="Calibri"/>
              </a:rPr>
              <a:t>https://pmc.ncbi.nlm.nih.gov/articles/PMC11799730/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3"/>
          <p:cNvSpPr/>
          <p:nvPr/>
        </p:nvSpPr>
        <p:spPr>
          <a:xfrm>
            <a:off x="3636000" y="198360"/>
            <a:ext cx="1937880" cy="70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914400">
              <a:lnSpc>
                <a:spcPct val="150000"/>
              </a:lnSpc>
            </a:pPr>
            <a:r>
              <a:rPr lang="en-US" sz="3000" b="0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Conclusion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6"/>
          <p:cNvSpPr/>
          <p:nvPr/>
        </p:nvSpPr>
        <p:spPr>
          <a:xfrm>
            <a:off x="323640" y="1171800"/>
            <a:ext cx="8352720" cy="45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1" u="sng" strike="noStrike">
                <a:solidFill>
                  <a:schemeClr val="dk1"/>
                </a:solidFill>
                <a:effectLst/>
                <a:uFillTx/>
                <a:latin typeface="Arial"/>
              </a:rPr>
              <a:t>Overview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scalable, data-driven web solution designed to minimize food wastage through efficient redistribution and community engagement.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1" u="sng" strike="noStrike">
                <a:solidFill>
                  <a:schemeClr val="dk1"/>
                </a:solidFill>
                <a:effectLst/>
                <a:uFillTx/>
                <a:latin typeface="Arial"/>
              </a:rPr>
              <a:t>Key Advantages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Efficiency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Real-time listings with geo-location matching and automated expiry.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Impact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Built-in analytics to track meals saved and CO2 reduction.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Trust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Secure workflows with proof of pickup (photo/signature) and role verification.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1" u="sng" strike="noStrike">
                <a:solidFill>
                  <a:schemeClr val="dk1"/>
                </a:solidFill>
                <a:effectLst/>
                <a:uFillTx/>
                <a:latin typeface="Arial"/>
              </a:rPr>
              <a:t>Core Applications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Donation Management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Streamlines surplus offloading for restaurants, households, and events.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Logistics Network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Connects NGOs and volunteers for rapid claim and transport.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1" u="sng" strike="noStrike">
                <a:solidFill>
                  <a:schemeClr val="dk1"/>
                </a:solidFill>
                <a:effectLst/>
                <a:uFillTx/>
                <a:latin typeface="Arial"/>
              </a:rPr>
              <a:t>Future Roadmap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Expansion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Development of a dedicated Mobile App.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216000" defTabSz="9144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Communication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Integration of in-app Chat &amp; Notification systems.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3"/>
          <p:cNvSpPr/>
          <p:nvPr/>
        </p:nvSpPr>
        <p:spPr>
          <a:xfrm>
            <a:off x="2337120" y="2181600"/>
            <a:ext cx="446904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5400" b="0" u="none" strike="noStrike">
                <a:solidFill>
                  <a:srgbClr val="c00000"/>
                </a:solidFill>
                <a:effectLst/>
                <a:uFillTx/>
                <a:latin typeface="A4 SPEED"/>
              </a:rPr>
              <a:t>Thank You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</TotalTime>
  <Application>LibreOffice/25.8.4.2$Linux_X86_64 LibreOffice_project/580$Build-2</Application>
  <AppVersion>15.0000</AppVersion>
  <Words>728</Words>
  <Paragraphs>113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2025-12-04T06:14:29Z</dcterms:created>
  <dc:creator>Abhinav</dc:creator>
  <dc:description/>
  <dc:language>en-US</dc:language>
  <cp:lastModifiedBy/>
  <dcterms:modified xsi:type="dcterms:W3CDTF">2026-01-31T07:20:54Z</dcterms:modified>
  <cp:revision>13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(16:10)</vt:lpwstr>
  </property>
  <property fmtid="{D5CDD505-2E9C-101B-9397-08002B2CF9AE}" pid="3" name="Slides">
    <vt:i4>11</vt:i4>
  </property>
</Properties>
</file>